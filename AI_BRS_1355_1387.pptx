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5" r:id="rId19"/>
    <p:sldId id="27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jpe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image" Target="../media/image5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19" Type="http://schemas.openxmlformats.org/officeDocument/2006/relationships/image" Target="../media/image50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3" Type="http://schemas.openxmlformats.org/officeDocument/2006/relationships/image" Target="../media/image52.png"/><Relationship Id="rId21" Type="http://schemas.openxmlformats.org/officeDocument/2006/relationships/image" Target="../media/image70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" Type="http://schemas.openxmlformats.org/officeDocument/2006/relationships/image" Target="../media/image5.png"/><Relationship Id="rId16" Type="http://schemas.openxmlformats.org/officeDocument/2006/relationships/image" Target="../media/image65.png"/><Relationship Id="rId20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24" Type="http://schemas.openxmlformats.org/officeDocument/2006/relationships/image" Target="../media/image73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23" Type="http://schemas.openxmlformats.org/officeDocument/2006/relationships/image" Target="../media/image72.png"/><Relationship Id="rId10" Type="http://schemas.openxmlformats.org/officeDocument/2006/relationships/image" Target="../media/image59.png"/><Relationship Id="rId19" Type="http://schemas.openxmlformats.org/officeDocument/2006/relationships/image" Target="../media/image68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Relationship Id="rId22" Type="http://schemas.openxmlformats.org/officeDocument/2006/relationships/image" Target="../media/image7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18" Type="http://schemas.openxmlformats.org/officeDocument/2006/relationships/image" Target="../media/image89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17" Type="http://schemas.openxmlformats.org/officeDocument/2006/relationships/image" Target="../media/image88.png"/><Relationship Id="rId2" Type="http://schemas.openxmlformats.org/officeDocument/2006/relationships/image" Target="../media/image5.png"/><Relationship Id="rId16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5" Type="http://schemas.openxmlformats.org/officeDocument/2006/relationships/image" Target="../media/image86.png"/><Relationship Id="rId10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18" Type="http://schemas.openxmlformats.org/officeDocument/2006/relationships/image" Target="../media/image105.jpe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" Type="http://schemas.openxmlformats.org/officeDocument/2006/relationships/image" Target="../media/image5.png"/><Relationship Id="rId16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10" Type="http://schemas.openxmlformats.org/officeDocument/2006/relationships/image" Target="../media/image97.png"/><Relationship Id="rId19" Type="http://schemas.openxmlformats.org/officeDocument/2006/relationships/image" Target="../media/image106.jpe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3" Type="http://schemas.openxmlformats.org/officeDocument/2006/relationships/image" Target="../media/image90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5" Type="http://schemas.openxmlformats.org/officeDocument/2006/relationships/image" Target="../media/image118.png"/><Relationship Id="rId10" Type="http://schemas.openxmlformats.org/officeDocument/2006/relationships/image" Target="../media/image11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Relationship Id="rId14" Type="http://schemas.openxmlformats.org/officeDocument/2006/relationships/image" Target="../media/image1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3" Type="http://schemas.openxmlformats.org/officeDocument/2006/relationships/image" Target="../media/image6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8.png"/><Relationship Id="rId10" Type="http://schemas.openxmlformats.org/officeDocument/2006/relationships/image" Target="../media/image123.png"/><Relationship Id="rId4" Type="http://schemas.openxmlformats.org/officeDocument/2006/relationships/image" Target="../media/image7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6.png"/><Relationship Id="rId7" Type="http://schemas.openxmlformats.org/officeDocument/2006/relationships/image" Target="../media/image12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3.png"/><Relationship Id="rId5" Type="http://schemas.openxmlformats.org/officeDocument/2006/relationships/image" Target="../media/image128.png"/><Relationship Id="rId10" Type="http://schemas.openxmlformats.org/officeDocument/2006/relationships/image" Target="../media/image132.png"/><Relationship Id="rId4" Type="http://schemas.openxmlformats.org/officeDocument/2006/relationships/image" Target="../media/image7.png"/><Relationship Id="rId9" Type="http://schemas.openxmlformats.org/officeDocument/2006/relationships/image" Target="../media/image1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41.png"/><Relationship Id="rId3" Type="http://schemas.openxmlformats.org/officeDocument/2006/relationships/image" Target="../media/image6.png"/><Relationship Id="rId7" Type="http://schemas.openxmlformats.org/officeDocument/2006/relationships/image" Target="../media/image135.png"/><Relationship Id="rId12" Type="http://schemas.openxmlformats.org/officeDocument/2006/relationships/image" Target="../media/image14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4.png"/><Relationship Id="rId11" Type="http://schemas.openxmlformats.org/officeDocument/2006/relationships/image" Target="../media/image139.png"/><Relationship Id="rId5" Type="http://schemas.openxmlformats.org/officeDocument/2006/relationships/image" Target="../media/image8.png"/><Relationship Id="rId15" Type="http://schemas.openxmlformats.org/officeDocument/2006/relationships/image" Target="../media/image143.png"/><Relationship Id="rId10" Type="http://schemas.openxmlformats.org/officeDocument/2006/relationships/image" Target="../media/image138.png"/><Relationship Id="rId4" Type="http://schemas.openxmlformats.org/officeDocument/2006/relationships/image" Target="../media/image7.png"/><Relationship Id="rId9" Type="http://schemas.openxmlformats.org/officeDocument/2006/relationships/image" Target="../media/image137.png"/><Relationship Id="rId14" Type="http://schemas.openxmlformats.org/officeDocument/2006/relationships/image" Target="../media/image14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3" Type="http://schemas.openxmlformats.org/officeDocument/2006/relationships/image" Target="../media/image144.png"/><Relationship Id="rId7" Type="http://schemas.openxmlformats.org/officeDocument/2006/relationships/image" Target="../media/image14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image" Target="../media/image145.png"/><Relationship Id="rId9" Type="http://schemas.openxmlformats.org/officeDocument/2006/relationships/image" Target="../media/image15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2.png"/><Relationship Id="rId4" Type="http://schemas.openxmlformats.org/officeDocument/2006/relationships/image" Target="../media/image15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" Type="http://schemas.openxmlformats.org/officeDocument/2006/relationships/image" Target="../media/image6.png"/><Relationship Id="rId7" Type="http://schemas.openxmlformats.org/officeDocument/2006/relationships/image" Target="../media/image15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3.png"/><Relationship Id="rId5" Type="http://schemas.openxmlformats.org/officeDocument/2006/relationships/image" Target="../media/image8.png"/><Relationship Id="rId10" Type="http://schemas.openxmlformats.org/officeDocument/2006/relationships/image" Target="../media/image157.png"/><Relationship Id="rId4" Type="http://schemas.openxmlformats.org/officeDocument/2006/relationships/image" Target="../media/image7.png"/><Relationship Id="rId9" Type="http://schemas.openxmlformats.org/officeDocument/2006/relationships/image" Target="../media/image15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3" Type="http://schemas.openxmlformats.org/officeDocument/2006/relationships/image" Target="../media/image158.png"/><Relationship Id="rId7" Type="http://schemas.openxmlformats.org/officeDocument/2006/relationships/image" Target="../media/image16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1.png"/><Relationship Id="rId5" Type="http://schemas.openxmlformats.org/officeDocument/2006/relationships/image" Target="../media/image160.png"/><Relationship Id="rId4" Type="http://schemas.openxmlformats.org/officeDocument/2006/relationships/image" Target="../media/image15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13" Type="http://schemas.openxmlformats.org/officeDocument/2006/relationships/image" Target="../media/image173.png"/><Relationship Id="rId3" Type="http://schemas.openxmlformats.org/officeDocument/2006/relationships/image" Target="../media/image164.png"/><Relationship Id="rId7" Type="http://schemas.openxmlformats.org/officeDocument/2006/relationships/image" Target="../media/image168.png"/><Relationship Id="rId12" Type="http://schemas.openxmlformats.org/officeDocument/2006/relationships/image" Target="../media/image17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7.png"/><Relationship Id="rId11" Type="http://schemas.openxmlformats.org/officeDocument/2006/relationships/image" Target="../media/image171.png"/><Relationship Id="rId5" Type="http://schemas.openxmlformats.org/officeDocument/2006/relationships/image" Target="../media/image166.png"/><Relationship Id="rId10" Type="http://schemas.openxmlformats.org/officeDocument/2006/relationships/image" Target="../media/image87.png"/><Relationship Id="rId4" Type="http://schemas.openxmlformats.org/officeDocument/2006/relationships/image" Target="../media/image165.png"/><Relationship Id="rId9" Type="http://schemas.openxmlformats.org/officeDocument/2006/relationships/image" Target="../media/image170.png"/><Relationship Id="rId14" Type="http://schemas.openxmlformats.org/officeDocument/2006/relationships/image" Target="../media/image17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7" Type="http://schemas.openxmlformats.org/officeDocument/2006/relationships/image" Target="../media/image180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4" Type="http://schemas.openxmlformats.org/officeDocument/2006/relationships/image" Target="../media/image17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3" Type="http://schemas.openxmlformats.org/officeDocument/2006/relationships/image" Target="../media/image181.png"/><Relationship Id="rId7" Type="http://schemas.openxmlformats.org/officeDocument/2006/relationships/image" Target="../media/image185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4.png"/><Relationship Id="rId5" Type="http://schemas.openxmlformats.org/officeDocument/2006/relationships/image" Target="../media/image183.png"/><Relationship Id="rId4" Type="http://schemas.openxmlformats.org/officeDocument/2006/relationships/image" Target="../media/image18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" y="94874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6725" y="3757612"/>
            <a:ext cx="6572250" cy="18335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3300" y="5457825"/>
            <a:ext cx="4362450" cy="438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6725" y="2414587"/>
            <a:ext cx="6900862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0" i="0" u="none" dirty="0">
                <a:solidFill>
                  <a:srgbClr val="FFFFFF"/>
                </a:solidFill>
                <a:latin typeface="Montserrat ExtraBold"/>
              </a:rPr>
              <a:t>Edge AI-Based UAV for Intelligent Fire Detection &amp; </a:t>
            </a:r>
            <a:r>
              <a:rPr sz="2400" b="0" i="0" u="none" dirty="0">
                <a:solidFill>
                  <a:srgbClr val="00B0F0"/>
                </a:solidFill>
                <a:latin typeface="Montserrat ExtraBold"/>
              </a:rPr>
              <a:t>Victim Prioritization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725" y="3367087"/>
            <a:ext cx="65722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FFC000"/>
                </a:solidFill>
                <a:latin typeface="Inter SemiBold"/>
              </a:rPr>
              <a:t>Emergency Response &amp; Real-Time Decision Support System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6271" y="1349406"/>
            <a:ext cx="4258526" cy="48164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0654" y="3946460"/>
            <a:ext cx="3043237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latin typeface="Inter"/>
              </a:rPr>
              <a:t>PROJECT TEAM</a:t>
            </a:r>
            <a:r>
              <a:rPr sz="1600" b="1" i="0" u="none" dirty="0">
                <a:solidFill>
                  <a:srgbClr val="F8FAFC"/>
                </a:solidFill>
                <a:latin typeface="Inter"/>
              </a:rPr>
              <a:t> </a:t>
            </a:r>
            <a:endParaRPr lang="en-IN" sz="1600" b="1" i="0" u="none" dirty="0">
              <a:solidFill>
                <a:srgbClr val="F8FAFC"/>
              </a:solidFill>
              <a:latin typeface="Inter"/>
            </a:endParaRPr>
          </a:p>
          <a:p>
            <a:pPr algn="l"/>
            <a:r>
              <a:rPr lang="en-IN" sz="1600" b="1" dirty="0">
                <a:solidFill>
                  <a:srgbClr val="FFFFFF"/>
                </a:solidFill>
                <a:latin typeface="Inter"/>
              </a:rPr>
              <a:t>24BRS1355 – Basil Joseph</a:t>
            </a:r>
          </a:p>
          <a:p>
            <a:pPr algn="l"/>
            <a:r>
              <a:rPr lang="en-IN" sz="1600" b="1" dirty="0">
                <a:solidFill>
                  <a:srgbClr val="FFFFFF"/>
                </a:solidFill>
                <a:latin typeface="Inter"/>
              </a:rPr>
              <a:t>24BRS1387 – Grace Maria James</a:t>
            </a:r>
            <a:endParaRPr sz="1600" b="1" i="0" u="none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24287" y="3946460"/>
            <a:ext cx="3043237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latin typeface="Inter"/>
              </a:rPr>
              <a:t>PROJECT GUIDE</a:t>
            </a:r>
            <a:endParaRPr lang="en-IN" sz="1600" b="1" i="0" u="none" dirty="0">
              <a:latin typeface="Inter"/>
            </a:endParaRPr>
          </a:p>
          <a:p>
            <a:pPr algn="l"/>
            <a:r>
              <a:rPr lang="en-IN" sz="1600" b="1" i="0" u="none" dirty="0">
                <a:solidFill>
                  <a:srgbClr val="FFFFFF"/>
                </a:solidFill>
                <a:latin typeface="Inter"/>
              </a:rPr>
              <a:t>Prof.</a:t>
            </a:r>
            <a:r>
              <a:rPr lang="en-IN" sz="1600" b="1" dirty="0">
                <a:solidFill>
                  <a:srgbClr val="FFFFFF"/>
                </a:solidFill>
                <a:latin typeface="Inter"/>
              </a:rPr>
              <a:t> </a:t>
            </a:r>
            <a:r>
              <a:rPr lang="en-IN" sz="1600" b="1" dirty="0" err="1">
                <a:solidFill>
                  <a:srgbClr val="FFFFFF"/>
                </a:solidFill>
                <a:latin typeface="Inter"/>
              </a:rPr>
              <a:t>Vijayaprabhakaran</a:t>
            </a:r>
            <a:r>
              <a:rPr lang="en-IN" sz="1600" b="1" dirty="0">
                <a:solidFill>
                  <a:srgbClr val="FFFFFF"/>
                </a:solidFill>
                <a:latin typeface="Inter"/>
              </a:rPr>
              <a:t> K</a:t>
            </a:r>
            <a:endParaRPr sz="1600" b="1" i="0" u="none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3413" y="4801850"/>
            <a:ext cx="3043237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600" b="1" dirty="0">
                <a:latin typeface="Inter"/>
              </a:rPr>
              <a:t>SCHOOL:</a:t>
            </a:r>
            <a:r>
              <a:rPr sz="1600" b="1" i="0" u="none" dirty="0">
                <a:solidFill>
                  <a:srgbClr val="F8FAFC"/>
                </a:solidFill>
                <a:latin typeface="Inter"/>
              </a:rPr>
              <a:t> </a:t>
            </a:r>
            <a:endParaRPr lang="en-IN" sz="1600" b="1" i="0" u="none" dirty="0">
              <a:solidFill>
                <a:srgbClr val="F8FAFC"/>
              </a:solidFill>
              <a:latin typeface="Inter"/>
            </a:endParaRPr>
          </a:p>
          <a:p>
            <a:pPr algn="l"/>
            <a:r>
              <a:rPr lang="en-IN" sz="1600" b="1" i="0" u="none" dirty="0">
                <a:solidFill>
                  <a:srgbClr val="FFFFFF"/>
                </a:solidFill>
                <a:latin typeface="Inter"/>
              </a:rPr>
              <a:t>School of Computer Science and Engineering (SCOPE)</a:t>
            </a:r>
            <a:endParaRPr sz="1600" b="1" i="0" u="none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52850" y="4801850"/>
            <a:ext cx="3043237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latin typeface="Inter"/>
              </a:rPr>
              <a:t>INSTITUTION</a:t>
            </a:r>
            <a:endParaRPr lang="en-IN" sz="1600" b="1" dirty="0">
              <a:solidFill>
                <a:srgbClr val="F8FAFC"/>
              </a:solidFill>
              <a:latin typeface="Inter"/>
            </a:endParaRPr>
          </a:p>
          <a:p>
            <a:pPr algn="l"/>
            <a:r>
              <a:rPr lang="en-IN" sz="1600" b="1" dirty="0">
                <a:solidFill>
                  <a:srgbClr val="FFFFFF"/>
                </a:solidFill>
                <a:latin typeface="Inter"/>
              </a:rPr>
              <a:t>Vellore</a:t>
            </a:r>
            <a:r>
              <a:rPr sz="1600" b="1" i="0" u="none" dirty="0">
                <a:solidFill>
                  <a:srgbClr val="FFFFFF"/>
                </a:solidFill>
                <a:latin typeface="Inter"/>
              </a:rPr>
              <a:t> Institute of Technology</a:t>
            </a:r>
            <a:r>
              <a:rPr lang="en-IN" sz="1600" b="1" i="0" u="none" dirty="0">
                <a:solidFill>
                  <a:srgbClr val="FFFFFF"/>
                </a:solidFill>
                <a:latin typeface="Inter"/>
              </a:rPr>
              <a:t>, Chennai</a:t>
            </a:r>
            <a:endParaRPr sz="1600" b="1" i="0" u="none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99EF365-793A-624D-D524-30ED73305E77}"/>
              </a:ext>
            </a:extLst>
          </p:cNvPr>
          <p:cNvSpPr/>
          <p:nvPr/>
        </p:nvSpPr>
        <p:spPr>
          <a:xfrm>
            <a:off x="509492" y="2063929"/>
            <a:ext cx="2076450" cy="200143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AI PROJECT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923925"/>
            <a:ext cx="6503937" cy="5581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062" y="923925"/>
            <a:ext cx="4602212" cy="5581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587" y="933450"/>
            <a:ext cx="4583162" cy="5562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5743575"/>
            <a:ext cx="2994868" cy="6000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5918" y="5743575"/>
            <a:ext cx="2994868" cy="600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56412" y="1057275"/>
            <a:ext cx="1714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20312" y="366712"/>
            <a:ext cx="1604962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725" y="357187"/>
            <a:ext cx="342900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3925" y="352425"/>
            <a:ext cx="599684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Montserrat"/>
              </a:rPr>
              <a:t>Application Domain &amp; Disaster Management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1085850"/>
            <a:ext cx="5922912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Montserrat"/>
              </a:rPr>
              <a:t>AI &amp; UAVs in Disaster Management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2112" y="942975"/>
            <a:ext cx="4564112" cy="5543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6750" y="1104900"/>
            <a:ext cx="104775" cy="1428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5399" y="1549313"/>
            <a:ext cx="5932437" cy="830997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94A3B8"/>
                </a:solidFill>
                <a:latin typeface="Inter"/>
              </a:rPr>
              <a:t>Deploying </a:t>
            </a:r>
            <a:r>
              <a:rPr b="1" i="0" u="none" dirty="0">
                <a:solidFill>
                  <a:srgbClr val="94A3B8"/>
                </a:solidFill>
                <a:latin typeface="Inter"/>
              </a:rPr>
              <a:t>Edge AI-enabled Unmanned Aerial Vehicles (UAVs)</a:t>
            </a:r>
            <a:r>
              <a:rPr b="0" i="0" u="none" dirty="0">
                <a:solidFill>
                  <a:srgbClr val="94A3B8"/>
                </a:solidFill>
                <a:latin typeface="Inter"/>
              </a:rPr>
              <a:t> for high-risk fire emergencies across forests, industrial plants, warehouses, and urban zones.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2598003"/>
            <a:ext cx="5932437" cy="830997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94A3B8"/>
                </a:solidFill>
                <a:latin typeface="Inter"/>
              </a:rPr>
              <a:t>Hazardous conditions like intense heat, toxic smoke, and structural collapse make human reconnaissance extremely dangerous and slow.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49" y="3691103"/>
            <a:ext cx="5932437" cy="553998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94A3B8"/>
                </a:solidFill>
                <a:latin typeface="Inter"/>
              </a:rPr>
              <a:t>Critical Need:</a:t>
            </a:r>
            <a:r>
              <a:rPr b="0" i="0" u="none" dirty="0">
                <a:solidFill>
                  <a:srgbClr val="94A3B8"/>
                </a:solidFill>
                <a:latin typeface="Inter"/>
              </a:rPr>
              <a:t> Delivering instantaneous aerial situational intelligence directly at the disaster edge.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8359" y="5848350"/>
            <a:ext cx="571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EF4444"/>
                </a:solidFill>
                <a:latin typeface="JetBrains Mono ExtraBold"/>
              </a:rPr>
              <a:t>4.4M+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525" y="6115050"/>
            <a:ext cx="2785318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87" b="0" i="0" u="none">
                <a:solidFill>
                  <a:srgbClr val="94A3B8"/>
                </a:solidFill>
                <a:latin typeface="Inter"/>
              </a:rPr>
              <a:t>Annual Global Injury Fatalities (WHO)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1778" y="5848350"/>
            <a:ext cx="1143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F97316"/>
                </a:solidFill>
                <a:latin typeface="JetBrains Mono ExtraBold"/>
              </a:rPr>
              <a:t>Rapid Prep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0693" y="6115050"/>
            <a:ext cx="2785318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87" b="0" i="0" u="none">
                <a:solidFill>
                  <a:srgbClr val="94A3B8"/>
                </a:solidFill>
                <a:latin typeface="Inter"/>
              </a:rPr>
              <a:t>WHO Key Priority to Save Lives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43" y="919163"/>
            <a:ext cx="5553075" cy="5581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923925"/>
            <a:ext cx="5553075" cy="5581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366712"/>
            <a:ext cx="181927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" y="357187"/>
            <a:ext cx="34290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3925" y="352425"/>
            <a:ext cx="470371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Montserrat"/>
              </a:rPr>
              <a:t>Existing UAV Systems &amp; Operational Gaps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1104900"/>
            <a:ext cx="4933950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10B981"/>
                </a:solidFill>
                <a:latin typeface="Montserrat"/>
              </a:rPr>
              <a:t>What Current UAVs Can 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1300" y="1104900"/>
            <a:ext cx="4933950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EF4444"/>
                </a:solidFill>
                <a:latin typeface="Montserrat"/>
              </a:rPr>
              <a:t>Critical Limitations (The Operational Gap)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1123950"/>
            <a:ext cx="142875" cy="1428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1525" y="4961215"/>
            <a:ext cx="66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961929"/>
            <a:ext cx="4981575" cy="349711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100" b="1" i="0" u="none">
                <a:solidFill>
                  <a:srgbClr val="94A3B8"/>
                </a:solidFill>
                <a:latin typeface="Inter"/>
              </a:rPr>
              <a:t>Fire &amp; Smoke Detection:</a:t>
            </a:r>
            <a:r>
              <a:rPr sz="1100" b="0" i="0" u="none">
                <a:solidFill>
                  <a:srgbClr val="94A3B8"/>
                </a:solidFill>
                <a:latin typeface="Inter"/>
              </a:rPr>
              <a:t> Standard visual/thermal thresholding to detect presence of flame.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5396388"/>
            <a:ext cx="66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5397103"/>
            <a:ext cx="4981575" cy="171907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100" b="1" i="0" u="none">
                <a:solidFill>
                  <a:srgbClr val="94A3B8"/>
                </a:solidFill>
                <a:latin typeface="Inter"/>
              </a:rPr>
              <a:t>GPS Alert Generation:</a:t>
            </a:r>
            <a:r>
              <a:rPr sz="1100" b="0" i="0" u="none">
                <a:solidFill>
                  <a:srgbClr val="94A3B8"/>
                </a:solidFill>
                <a:latin typeface="Inter"/>
              </a:rPr>
              <a:t> Sending raw coordinate coordinates of the fire perimeter.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525" y="5652075"/>
            <a:ext cx="66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5652789"/>
            <a:ext cx="4981575" cy="351443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100" b="1" i="0" u="none">
                <a:solidFill>
                  <a:srgbClr val="94A3B8"/>
                </a:solidFill>
                <a:latin typeface="Inter"/>
              </a:rPr>
              <a:t>Live Video Streaming:</a:t>
            </a:r>
            <a:r>
              <a:rPr sz="1100" b="0" i="0" u="none">
                <a:solidFill>
                  <a:srgbClr val="94A3B8"/>
                </a:solidFill>
                <a:latin typeface="Inter"/>
              </a:rPr>
              <a:t> Transmitting unanalyzed video back to ground control operators.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6087248"/>
            <a:ext cx="66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6087963"/>
            <a:ext cx="4981575" cy="171907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100" b="1" i="0" u="none">
                <a:solidFill>
                  <a:srgbClr val="94A3B8"/>
                </a:solidFill>
                <a:latin typeface="Inter"/>
              </a:rPr>
              <a:t>Basic Flight Autonomy:</a:t>
            </a:r>
            <a:r>
              <a:rPr sz="1100" b="0" i="0" u="none">
                <a:solidFill>
                  <a:srgbClr val="94A3B8"/>
                </a:solidFill>
                <a:latin typeface="Inter"/>
              </a:rPr>
              <a:t> Waypoint navigation over pre-mapped hazard zones.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2225" y="1123950"/>
            <a:ext cx="142875" cy="1428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77000" y="4961215"/>
            <a:ext cx="66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3675" y="4961929"/>
            <a:ext cx="4981575" cy="171907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100" b="1" i="0" u="none">
                <a:solidFill>
                  <a:srgbClr val="FCA5A5"/>
                </a:solidFill>
                <a:latin typeface="Inter"/>
              </a:rPr>
              <a:t>No Victim Detection:</a:t>
            </a:r>
            <a:r>
              <a:rPr sz="1100" b="0" i="0" u="none">
                <a:solidFill>
                  <a:srgbClr val="94A3B8"/>
                </a:solidFill>
                <a:latin typeface="Inter"/>
              </a:rPr>
              <a:t> Zero awareness of trapped victims near fire boundaries.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0" y="5216902"/>
            <a:ext cx="66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3675" y="5217616"/>
            <a:ext cx="4981575" cy="349711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100" b="1" i="0" u="none">
                <a:solidFill>
                  <a:srgbClr val="FCA5A5"/>
                </a:solidFill>
                <a:latin typeface="Inter"/>
              </a:rPr>
              <a:t>No Condition Estimation:</a:t>
            </a:r>
            <a:r>
              <a:rPr sz="1100" b="0" i="0" u="none">
                <a:solidFill>
                  <a:srgbClr val="94A3B8"/>
                </a:solidFill>
                <a:latin typeface="Inter"/>
              </a:rPr>
              <a:t> Incapable of assessing victim body pose (sitting, lying, immobile).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0" y="5652075"/>
            <a:ext cx="66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3675" y="5652789"/>
            <a:ext cx="4981575" cy="171907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100" b="1" i="0" u="none">
                <a:solidFill>
                  <a:srgbClr val="FCA5A5"/>
                </a:solidFill>
                <a:latin typeface="Inter"/>
              </a:rPr>
              <a:t>No Rescue Prioritization:</a:t>
            </a:r>
            <a:r>
              <a:rPr sz="1100" b="0" i="0" u="none">
                <a:solidFill>
                  <a:srgbClr val="94A3B8"/>
                </a:solidFill>
                <a:latin typeface="Inter"/>
              </a:rPr>
              <a:t> Cannot rank rescue urgency across multiple victims.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0" y="5907762"/>
            <a:ext cx="66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3675" y="5908476"/>
            <a:ext cx="4981575" cy="349711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100" b="1" i="0" u="none">
                <a:solidFill>
                  <a:srgbClr val="FCA5A5"/>
                </a:solidFill>
                <a:latin typeface="Inter"/>
              </a:rPr>
              <a:t>High Cognitive Load:</a:t>
            </a:r>
            <a:r>
              <a:rPr sz="1100" b="0" i="0" u="none">
                <a:solidFill>
                  <a:srgbClr val="94A3B8"/>
                </a:solidFill>
                <a:latin typeface="Inter"/>
              </a:rPr>
              <a:t> Responders must manually watch raw video streams under high stress.</a:t>
            </a:r>
          </a:p>
        </p:txBody>
      </p:sp>
      <p:pic>
        <p:nvPicPr>
          <p:cNvPr id="28" name="Picture 27" descr="Core Capabilities of Fire and Smoke Detection with Computer Vision">
            <a:extLst>
              <a:ext uri="{FF2B5EF4-FFF2-40B4-BE49-F238E27FC236}">
                <a16:creationId xmlns:a16="http://schemas.microsoft.com/office/drawing/2014/main" id="{CBFE4CBD-A5F4-516D-6DE8-D35A7AC647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1561" y="1494282"/>
            <a:ext cx="4695749" cy="3030736"/>
          </a:xfrm>
          <a:prstGeom prst="rect">
            <a:avLst/>
          </a:prstGeom>
        </p:spPr>
      </p:pic>
      <p:pic>
        <p:nvPicPr>
          <p:cNvPr id="29" name="Picture 28" descr="Aerial Fire Detection using Computer Vision and Drone">
            <a:extLst>
              <a:ext uri="{FF2B5EF4-FFF2-40B4-BE49-F238E27FC236}">
                <a16:creationId xmlns:a16="http://schemas.microsoft.com/office/drawing/2014/main" id="{BF360868-C246-5B84-49E7-0173AAD0737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13879" b="12392"/>
          <a:stretch>
            <a:fillRect/>
          </a:stretch>
        </p:blipFill>
        <p:spPr>
          <a:xfrm>
            <a:off x="1043406" y="1595439"/>
            <a:ext cx="4464748" cy="28576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923925"/>
            <a:ext cx="11258550" cy="251445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3590776"/>
            <a:ext cx="5553075" cy="291479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590776"/>
            <a:ext cx="5553075" cy="291479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7500" y="366712"/>
            <a:ext cx="12477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25" y="357187"/>
            <a:ext cx="34290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3925" y="352425"/>
            <a:ext cx="5221746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Montserrat"/>
              </a:rPr>
              <a:t>Motivation &amp; Stakeholder Decision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752701"/>
            <a:ext cx="4895850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Montserrat"/>
              </a:rPr>
              <a:t>Primary Stakeholders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752701"/>
            <a:ext cx="4895850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Montserrat"/>
              </a:rPr>
              <a:t>Key Decisions Assisted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" y="3771751"/>
            <a:ext cx="180975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1525" y="5575875"/>
            <a:ext cx="66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5576589"/>
            <a:ext cx="4981575" cy="179536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Fire &amp; Rescue Departments &amp; Municipal Stations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5831562"/>
            <a:ext cx="66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5832276"/>
            <a:ext cx="4981575" cy="179536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National Disaster Response Force (NDRF / SDRF)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6087248"/>
            <a:ext cx="66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6087963"/>
            <a:ext cx="4981575" cy="179536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Industrial Emergency Response &amp; Forest Patrols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2225" y="3771751"/>
            <a:ext cx="180975" cy="1428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77000" y="5575875"/>
            <a:ext cx="66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3675" y="5576589"/>
            <a:ext cx="4981575" cy="171907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100" b="0" i="0" u="none" dirty="0">
                <a:solidFill>
                  <a:srgbClr val="94A3B8"/>
                </a:solidFill>
                <a:latin typeface="Inter"/>
              </a:rPr>
              <a:t>Automated Fire Severity Verification (Low to Critical)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0" y="5831562"/>
            <a:ext cx="66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3675" y="5832276"/>
            <a:ext cx="4981575" cy="171907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100" b="0" i="0" u="none">
                <a:solidFill>
                  <a:srgbClr val="94A3B8"/>
                </a:solidFill>
                <a:latin typeface="Inter"/>
              </a:rPr>
              <a:t>Victim Trapped Count &amp; Observable Posture Assessment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0" y="6087248"/>
            <a:ext cx="66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3675" y="6087963"/>
            <a:ext cx="4981575" cy="171907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100" b="0" i="0" u="none">
                <a:solidFill>
                  <a:srgbClr val="94A3B8"/>
                </a:solidFill>
                <a:latin typeface="Inter"/>
              </a:rPr>
              <a:t>Optimized Rescue Team Dispatch Order &amp; GPS Telemetry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65162" y="1197745"/>
            <a:ext cx="1616313" cy="3119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19138" y="1779360"/>
            <a:ext cx="5314950" cy="2447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2400" b="1" i="0" u="none" dirty="0">
                <a:solidFill>
                  <a:srgbClr val="FFFFFF"/>
                </a:solidFill>
                <a:latin typeface="Inter"/>
              </a:rPr>
              <a:t>UAV → Fire → Raw Video Alert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6975" y="2338432"/>
            <a:ext cx="17145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u="none" dirty="0">
                <a:solidFill>
                  <a:srgbClr val="EF4444"/>
                </a:solidFill>
                <a:latin typeface="Inter"/>
              </a:rPr>
              <a:t>Answers only: "Where is the fire?"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53099" y="1533525"/>
            <a:ext cx="561975" cy="5619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67649" y="1193365"/>
            <a:ext cx="2296865" cy="3119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222206" y="1572802"/>
            <a:ext cx="531495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 dirty="0">
                <a:solidFill>
                  <a:srgbClr val="FFFFFF"/>
                </a:solidFill>
                <a:latin typeface="Inter"/>
              </a:rPr>
              <a:t>UAV → Fire + Victim Pose → Rescue Priority → Mission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6675" y="2328907"/>
            <a:ext cx="2362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u="none" dirty="0">
                <a:solidFill>
                  <a:srgbClr val="10B981"/>
                </a:solidFill>
                <a:latin typeface="Inter"/>
              </a:rPr>
              <a:t>Answers: "Who needs immediate rescue first?"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923925"/>
            <a:ext cx="2700337" cy="26324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462" y="923925"/>
            <a:ext cx="2700337" cy="26324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923925"/>
            <a:ext cx="2700337" cy="263247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4937" y="923925"/>
            <a:ext cx="2700337" cy="263247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25" y="3708796"/>
            <a:ext cx="2700337" cy="279677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9462" y="3708796"/>
            <a:ext cx="2700337" cy="279677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3708796"/>
            <a:ext cx="2700337" cy="2796778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24937" y="3708796"/>
            <a:ext cx="2700337" cy="2796778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20375" y="366712"/>
            <a:ext cx="11049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725" y="357187"/>
            <a:ext cx="342900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3925" y="352425"/>
            <a:ext cx="26514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Montserrat"/>
              </a:rPr>
              <a:t>Core Project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" y="2137767"/>
            <a:ext cx="2415301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FFFFFF"/>
                </a:solidFill>
                <a:latin typeface="Inter"/>
              </a:rPr>
              <a:t>1. Fire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3065859"/>
            <a:ext cx="2300287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Real-time flame detection using optimized YOLO11n fine-tuned on DFire &amp; FLAME.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9487" y="2137767"/>
            <a:ext cx="2415301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Inter"/>
              </a:rPr>
              <a:t>2. Fire Severity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9487" y="3065859"/>
            <a:ext cx="2300287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Area expansion and smoke density analysis categorizing severity (Low to Critical).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2225" y="2137767"/>
            <a:ext cx="2415301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Inter"/>
              </a:rPr>
              <a:t>3. Human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2225" y="3065859"/>
            <a:ext cx="2300287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Detecting trapped victims from top-down aerial viewpoints using VisDrone dataset.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4962" y="2137767"/>
            <a:ext cx="2415301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Inter"/>
              </a:rPr>
              <a:t>4. Pose Estimation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4962" y="3065859"/>
            <a:ext cx="2300287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Skeleton keypoint tracking to detect postures: Standing, Sitting, Lying, Running.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" y="4922639"/>
            <a:ext cx="2415301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Inter"/>
              </a:rPr>
              <a:t>5. Victim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" y="5850731"/>
            <a:ext cx="2300287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Persistent ID tracking via ByteTrack to monitor movement velocity and avoid re-counts.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19487" y="5004792"/>
            <a:ext cx="2415301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Inter"/>
              </a:rPr>
              <a:t>6. Rescue Priority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19487" y="6015037"/>
            <a:ext cx="2300287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Context-Aware Victim Prioritization Engine (CVPE) generating urgency matrix.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2225" y="5004792"/>
            <a:ext cx="2415301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Inter"/>
              </a:rPr>
              <a:t>7. GPS Logging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2225" y="6015037"/>
            <a:ext cx="2300287" cy="3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Geo-tagging victim coordinates and fire location on telemetry log.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4962" y="5004792"/>
            <a:ext cx="2415301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Inter"/>
              </a:rPr>
              <a:t>8. Mission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4962" y="6015037"/>
            <a:ext cx="2300287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Automated incident command summary generation for rapid deployment.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6750" y="1114425"/>
            <a:ext cx="171450" cy="1905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19487" y="1114425"/>
            <a:ext cx="190500" cy="1905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72225" y="1114425"/>
            <a:ext cx="238125" cy="1905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24962" y="1114425"/>
            <a:ext cx="190500" cy="1905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6750" y="3899296"/>
            <a:ext cx="238125" cy="1905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19487" y="3899296"/>
            <a:ext cx="238125" cy="1905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72225" y="3899296"/>
            <a:ext cx="142875" cy="1905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24962" y="3899296"/>
            <a:ext cx="14287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2009775"/>
            <a:ext cx="3543300" cy="990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0312" y="366712"/>
            <a:ext cx="1604962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357187"/>
            <a:ext cx="34290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3925" y="352425"/>
            <a:ext cx="4021596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Montserrat"/>
              </a:rPr>
              <a:t>Overall Proposed System Flowchart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" y="2009775"/>
            <a:ext cx="3543300" cy="990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1975" y="2009775"/>
            <a:ext cx="3543300" cy="990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9325" y="3152775"/>
            <a:ext cx="13335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725" y="3428999"/>
            <a:ext cx="2578893" cy="904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59943" y="3429000"/>
            <a:ext cx="2578893" cy="90419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53162" y="3429000"/>
            <a:ext cx="2578893" cy="86609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6381" y="3429000"/>
            <a:ext cx="2578893" cy="90419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9325" y="4362450"/>
            <a:ext cx="133350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725" y="4638675"/>
            <a:ext cx="7213550" cy="99798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94600" y="4638675"/>
            <a:ext cx="3730674" cy="990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819275" y="2343150"/>
            <a:ext cx="8382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FFFFFF"/>
                </a:solidFill>
                <a:latin typeface="Inter"/>
              </a:rPr>
              <a:t>Drone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8812" y="2552700"/>
            <a:ext cx="61912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Inter"/>
              </a:rPr>
              <a:t>UAV Airframe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24325" y="2443162"/>
            <a:ext cx="85725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48175" y="2114550"/>
            <a:ext cx="3295650" cy="7810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81950" y="2443162"/>
            <a:ext cx="85725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77425" y="2133600"/>
            <a:ext cx="152400" cy="152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544050" y="2343150"/>
            <a:ext cx="8191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Preprocessing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3575" y="2552700"/>
            <a:ext cx="80010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Inter"/>
              </a:rPr>
              <a:t>Resize/Normalize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89496" y="3552825"/>
            <a:ext cx="133350" cy="152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75171" y="3762375"/>
            <a:ext cx="7620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Fire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1384" y="3971925"/>
            <a:ext cx="40957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Inter"/>
              </a:rPr>
              <a:t>YOLO11n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159918" y="3757612"/>
            <a:ext cx="85725" cy="1333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82715" y="3552825"/>
            <a:ext cx="133350" cy="1524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177903" y="3762375"/>
            <a:ext cx="94297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Human 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2203" y="3971925"/>
            <a:ext cx="71437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Inter"/>
              </a:rPr>
              <a:t>VisDrone Model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53137" y="3757612"/>
            <a:ext cx="85725" cy="1333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85459" y="3552825"/>
            <a:ext cx="114300" cy="1524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104459" y="3762375"/>
            <a:ext cx="8763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Pose Estimation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33059" y="3971925"/>
            <a:ext cx="41910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Inter"/>
              </a:rPr>
              <a:t>RTMPose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46356" y="3757612"/>
            <a:ext cx="85725" cy="1333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359628" y="3552825"/>
            <a:ext cx="152400" cy="1524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192940" y="3762375"/>
            <a:ext cx="48577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Tracking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1990" y="3971925"/>
            <a:ext cx="44767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Inter"/>
              </a:rPr>
              <a:t>ByteTrack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87700" y="4762500"/>
            <a:ext cx="171450" cy="1524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335113" y="4962525"/>
            <a:ext cx="347662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⭐ Context-Aware Victim Prioritization Engine (CVPE) 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35150" y="5181600"/>
            <a:ext cx="287655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97316"/>
                </a:solidFill>
                <a:latin typeface="Inter"/>
              </a:rPr>
              <a:t>Primary Novel Contribution — Multi-modal Contextual Fusion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94575" y="4967287"/>
            <a:ext cx="85725" cy="1333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783663" y="4762500"/>
            <a:ext cx="152400" cy="1524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445525" y="4972050"/>
            <a:ext cx="82867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Mission Report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64575" y="5181600"/>
            <a:ext cx="79057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Inter"/>
              </a:rPr>
              <a:t>GPS &amp; Dashboard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19800" y="2238375"/>
            <a:ext cx="152400" cy="1524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810250" y="2447925"/>
            <a:ext cx="5715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FFFFFF"/>
                </a:solidFill>
                <a:latin typeface="Inter"/>
              </a:rPr>
              <a:t>Pi Camera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38825" y="2657475"/>
            <a:ext cx="51435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Inter"/>
              </a:rPr>
              <a:t>Video Feed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923925"/>
            <a:ext cx="6503937" cy="616163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062" y="923925"/>
            <a:ext cx="4602212" cy="616163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00" y="3111031"/>
            <a:ext cx="6103887" cy="438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587" y="933450"/>
            <a:ext cx="4583162" cy="614258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1577506"/>
            <a:ext cx="3004244" cy="285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66244" y="1577506"/>
            <a:ext cx="3004393" cy="285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" y="1958506"/>
            <a:ext cx="3004244" cy="285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66244" y="1958506"/>
            <a:ext cx="3004393" cy="2857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750" y="2339506"/>
            <a:ext cx="3004244" cy="2857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66244" y="2321599"/>
            <a:ext cx="3004393" cy="2857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18312" y="6799808"/>
            <a:ext cx="124777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34562" y="366712"/>
            <a:ext cx="1890712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6725" y="357187"/>
            <a:ext cx="342900" cy="247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23925" y="352425"/>
            <a:ext cx="466370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Montserrat"/>
              </a:rPr>
              <a:t>Hardware Architecture &amp; Fallback Option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1085850"/>
            <a:ext cx="5884812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Montserrat"/>
              </a:rPr>
              <a:t>Primary Edge Hardware Rig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6750" y="1104900"/>
            <a:ext cx="142875" cy="1428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4422" y="3168181"/>
            <a:ext cx="1314450" cy="13335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/>
            <a:r>
              <a:rPr lang="en-IN" sz="825" b="1" i="0" u="none" dirty="0">
                <a:solidFill>
                  <a:srgbClr val="EAB308"/>
                </a:solidFill>
                <a:latin typeface="Inter"/>
              </a:rPr>
              <a:t>ESP32 Fallback Option: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42112" y="942975"/>
            <a:ext cx="4564112" cy="6123533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8482" y="3186469"/>
            <a:ext cx="104775" cy="1047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923925"/>
            <a:ext cx="11258550" cy="5581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1140714"/>
            <a:ext cx="1935509" cy="857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7534" y="1140714"/>
            <a:ext cx="1935509" cy="857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8319" y="1131570"/>
            <a:ext cx="1935509" cy="857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9104" y="1140714"/>
            <a:ext cx="1935509" cy="857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9889" y="1140714"/>
            <a:ext cx="1935509" cy="857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" y="2133600"/>
            <a:ext cx="5353050" cy="42100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2133600"/>
            <a:ext cx="5353050" cy="42100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77500" y="366712"/>
            <a:ext cx="124777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6725" y="357187"/>
            <a:ext cx="342900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3925" y="352425"/>
            <a:ext cx="458666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Montserrat"/>
              </a:rPr>
              <a:t>Software Stack &amp; Framework Integration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34417" y="1209675"/>
            <a:ext cx="200025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8378" y="1485900"/>
            <a:ext cx="177225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Inter"/>
              </a:rPr>
              <a:t>Python 3.10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2005" y="1685925"/>
            <a:ext cx="70485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 u="none" dirty="0">
                <a:solidFill>
                  <a:srgbClr val="94A3B8"/>
                </a:solidFill>
                <a:latin typeface="Inter"/>
              </a:rPr>
              <a:t>Core Language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78459" y="1438275"/>
            <a:ext cx="142875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36627" y="1209675"/>
            <a:ext cx="257175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979163" y="1485900"/>
            <a:ext cx="177225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Inter"/>
              </a:rPr>
              <a:t>OpenCV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1364" y="1685925"/>
            <a:ext cx="80962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 u="none" dirty="0">
                <a:solidFill>
                  <a:srgbClr val="94A3B8"/>
                </a:solidFill>
                <a:latin typeface="Inter"/>
              </a:rPr>
              <a:t>Preprocessing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09244" y="1438275"/>
            <a:ext cx="142875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95987" y="1209675"/>
            <a:ext cx="200025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209948" y="1485900"/>
            <a:ext cx="177225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Inter"/>
              </a:rPr>
              <a:t>YOLO11n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9762" y="1685925"/>
            <a:ext cx="75247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 u="none" dirty="0">
                <a:solidFill>
                  <a:srgbClr val="94A3B8"/>
                </a:solidFill>
                <a:latin typeface="Inter"/>
              </a:rPr>
              <a:t>Object Detection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0029" y="1438275"/>
            <a:ext cx="142875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98197" y="1209675"/>
            <a:ext cx="257175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40732" y="1485900"/>
            <a:ext cx="177225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Inter"/>
              </a:rPr>
              <a:t>RTMPose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4359" y="1685925"/>
            <a:ext cx="70485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 u="none" dirty="0">
                <a:solidFill>
                  <a:srgbClr val="94A3B8"/>
                </a:solidFill>
                <a:latin typeface="Inter"/>
              </a:rPr>
              <a:t>Pose Estimation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70814" y="1438275"/>
            <a:ext cx="142875" cy="1524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43269" y="1209675"/>
            <a:ext cx="228600" cy="2286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71517" y="1485900"/>
            <a:ext cx="177225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Inter"/>
              </a:rPr>
              <a:t>ByteTrack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67069" y="1685925"/>
            <a:ext cx="54292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 u="none" dirty="0">
                <a:solidFill>
                  <a:srgbClr val="94A3B8"/>
                </a:solidFill>
                <a:latin typeface="Inter"/>
              </a:rPr>
              <a:t>Tracking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1525" y="2276475"/>
            <a:ext cx="15240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>
                <a:solidFill>
                  <a:srgbClr val="3B82F6"/>
                </a:solidFill>
                <a:latin typeface="Inter"/>
              </a:rPr>
              <a:t>Ground Control &amp; Telemetry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0674" y="2657507"/>
            <a:ext cx="51435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1050" b="0" i="0" u="none" dirty="0">
                <a:solidFill>
                  <a:srgbClr val="94A3B8"/>
                </a:solidFill>
                <a:latin typeface="Inter"/>
              </a:rPr>
              <a:t>Integrated with </a:t>
            </a:r>
            <a:r>
              <a:rPr sz="1050" b="1" i="0" u="none" dirty="0">
                <a:solidFill>
                  <a:srgbClr val="94A3B8"/>
                </a:solidFill>
                <a:latin typeface="Inter"/>
              </a:rPr>
              <a:t>Mission Planner / </a:t>
            </a:r>
            <a:r>
              <a:rPr sz="1050" b="1" i="0" u="none" dirty="0" err="1">
                <a:solidFill>
                  <a:srgbClr val="94A3B8"/>
                </a:solidFill>
                <a:latin typeface="Inter"/>
              </a:rPr>
              <a:t>QGroundControl</a:t>
            </a:r>
            <a:r>
              <a:rPr sz="1050" b="0" i="0" u="none" dirty="0">
                <a:solidFill>
                  <a:srgbClr val="94A3B8"/>
                </a:solidFill>
                <a:latin typeface="Inter"/>
              </a:rPr>
              <a:t> via </a:t>
            </a:r>
            <a:r>
              <a:rPr sz="1050" b="0" i="0" u="none" dirty="0" err="1">
                <a:solidFill>
                  <a:srgbClr val="94A3B8"/>
                </a:solidFill>
                <a:latin typeface="Inter"/>
              </a:rPr>
              <a:t>MAVLink</a:t>
            </a:r>
            <a:r>
              <a:rPr sz="1050" b="0" i="0" u="none" dirty="0">
                <a:solidFill>
                  <a:srgbClr val="94A3B8"/>
                </a:solidFill>
                <a:latin typeface="Inter"/>
              </a:rPr>
              <a:t> protocol for autonomous grid flight path execution.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6975" y="2276475"/>
            <a:ext cx="1304925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>
                <a:solidFill>
                  <a:srgbClr val="10B981"/>
                </a:solidFill>
                <a:latin typeface="Inter"/>
              </a:rPr>
              <a:t>Dashboard &amp; Visualizer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7826" y="2665821"/>
            <a:ext cx="51435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1050" b="0" i="0" u="none" dirty="0" err="1">
                <a:solidFill>
                  <a:srgbClr val="94A3B8"/>
                </a:solidFill>
                <a:latin typeface="Inter"/>
              </a:rPr>
              <a:t>Streamlit</a:t>
            </a:r>
            <a:r>
              <a:rPr sz="1050" b="0" i="0" u="none" dirty="0">
                <a:solidFill>
                  <a:srgbClr val="94A3B8"/>
                </a:solidFill>
                <a:latin typeface="Inter"/>
              </a:rPr>
              <a:t> / WebGL real-time interface displaying live HUD feed, victim priority matrix, and GPS mission logs.</a:t>
            </a:r>
          </a:p>
        </p:txBody>
      </p:sp>
      <p:pic>
        <p:nvPicPr>
          <p:cNvPr id="37" name="Picture 36" descr="../_images/mission_planner_flight_data.jpg">
            <a:extLst>
              <a:ext uri="{FF2B5EF4-FFF2-40B4-BE49-F238E27FC236}">
                <a16:creationId xmlns:a16="http://schemas.microsoft.com/office/drawing/2014/main" id="{25CE3524-C1BA-B8C9-0677-DD32F8A00D2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7575" y="3136733"/>
            <a:ext cx="4991399" cy="3035467"/>
          </a:xfrm>
          <a:prstGeom prst="rect">
            <a:avLst/>
          </a:prstGeom>
        </p:spPr>
      </p:pic>
      <p:pic>
        <p:nvPicPr>
          <p:cNvPr id="38" name="Picture 37" descr="Introduction to Streamlit">
            <a:extLst>
              <a:ext uri="{FF2B5EF4-FFF2-40B4-BE49-F238E27FC236}">
                <a16:creationId xmlns:a16="http://schemas.microsoft.com/office/drawing/2014/main" id="{301D33CE-C4B4-2AC8-06EF-4FF5A049E1D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82200" y="3404098"/>
            <a:ext cx="3765767" cy="25090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923925"/>
            <a:ext cx="11258550" cy="5581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5962650"/>
            <a:ext cx="108585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1085850"/>
            <a:ext cx="2095500" cy="9477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0" y="1085850"/>
            <a:ext cx="2095500" cy="94773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8250" y="1085850"/>
            <a:ext cx="2095500" cy="94773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1085850"/>
            <a:ext cx="2095500" cy="94773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29750" y="1085850"/>
            <a:ext cx="2095500" cy="9477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825162" y="414337"/>
            <a:ext cx="785812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F8FAFC"/>
                </a:solidFill>
                <a:latin typeface="JetBrains Mono"/>
              </a:rPr>
              <a:t>AI PIPELINE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725" y="357187"/>
            <a:ext cx="342900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3925" y="352425"/>
            <a:ext cx="376156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Montserrat"/>
              </a:rPr>
              <a:t>Multi-Modal AI Inference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575" y="6086475"/>
            <a:ext cx="106108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Target Latency:</a:t>
            </a:r>
            <a:r>
              <a:rPr sz="825" b="0" i="0" u="none">
                <a:solidFill>
                  <a:srgbClr val="94A3B8"/>
                </a:solidFill>
                <a:latin typeface="Inter"/>
              </a:rPr>
              <a:t> &lt; 50ms / frame </a:t>
            </a:r>
            <a:r>
              <a:rPr sz="825" b="1" i="0" u="none">
                <a:solidFill>
                  <a:srgbClr val="FFFFFF"/>
                </a:solidFill>
                <a:latin typeface="Inter"/>
              </a:rPr>
              <a:t>Optimization:</a:t>
            </a:r>
            <a:r>
              <a:rPr sz="825" b="0" i="0" u="none">
                <a:solidFill>
                  <a:srgbClr val="94A3B8"/>
                </a:solidFill>
                <a:latin typeface="Inter"/>
              </a:rPr>
              <a:t> INT8 Model Quantization </a:t>
            </a:r>
            <a:r>
              <a:rPr sz="825" b="1" i="0" u="none">
                <a:solidFill>
                  <a:srgbClr val="FFFFFF"/>
                </a:solidFill>
                <a:latin typeface="Inter"/>
              </a:rPr>
              <a:t>Execution:</a:t>
            </a:r>
            <a:r>
              <a:rPr sz="825" b="0" i="0" u="none">
                <a:solidFill>
                  <a:srgbClr val="94A3B8"/>
                </a:solidFill>
                <a:latin typeface="Inter"/>
              </a:rPr>
              <a:t> Parallel Thread Pools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525" y="1200150"/>
            <a:ext cx="571500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1525" y="1447800"/>
            <a:ext cx="198024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Input Stream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1628775"/>
            <a:ext cx="1885950" cy="3000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81"/>
              </a:lnSpc>
            </a:pPr>
            <a:r>
              <a:rPr sz="787" b="0" i="0" u="none">
                <a:solidFill>
                  <a:srgbClr val="94A3B8"/>
                </a:solidFill>
                <a:latin typeface="Inter"/>
              </a:rPr>
              <a:t>640×480 @ 30 FPS RGB video capture.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62275" y="1200150"/>
            <a:ext cx="571500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962275" y="1447800"/>
            <a:ext cx="198024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Fire &amp; Severity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2275" y="1628775"/>
            <a:ext cx="1885950" cy="1500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81"/>
              </a:lnSpc>
            </a:pPr>
            <a:r>
              <a:rPr sz="787" b="0" i="0" u="none">
                <a:solidFill>
                  <a:srgbClr val="94A3B8"/>
                </a:solidFill>
                <a:latin typeface="Inter"/>
              </a:rPr>
              <a:t>YOLO11n outputs bbox &amp; severity rating.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53025" y="1200150"/>
            <a:ext cx="571500" cy="209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153025" y="1447800"/>
            <a:ext cx="198024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Person BBoxes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3025" y="1628775"/>
            <a:ext cx="1885950" cy="1500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81"/>
              </a:lnSpc>
            </a:pPr>
            <a:r>
              <a:rPr sz="787" b="0" i="0" u="none">
                <a:solidFill>
                  <a:srgbClr val="94A3B8"/>
                </a:solidFill>
                <a:latin typeface="Inter"/>
              </a:rPr>
              <a:t>YOLO Person detector aerial mapping.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43775" y="1200150"/>
            <a:ext cx="571500" cy="209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343775" y="1447800"/>
            <a:ext cx="198024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Pose &amp;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3775" y="1628775"/>
            <a:ext cx="1885950" cy="1500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81"/>
              </a:lnSpc>
            </a:pPr>
            <a:r>
              <a:rPr sz="787" b="0" i="0" u="none">
                <a:solidFill>
                  <a:srgbClr val="94A3B8"/>
                </a:solidFill>
                <a:latin typeface="Inter"/>
              </a:rPr>
              <a:t>Keypoints + ByteTrack velocity vectors.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34525" y="1200150"/>
            <a:ext cx="971550" cy="2095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534525" y="1447800"/>
            <a:ext cx="198024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Rescue Priority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4525" y="1628775"/>
            <a:ext cx="1885950" cy="1500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81"/>
              </a:lnSpc>
            </a:pPr>
            <a:r>
              <a:rPr sz="787" b="0" i="0" u="none">
                <a:solidFill>
                  <a:srgbClr val="94A3B8"/>
                </a:solidFill>
                <a:latin typeface="Inter"/>
              </a:rPr>
              <a:t>Priority score calculation &amp; logging.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923925"/>
            <a:ext cx="6503937" cy="5581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062" y="923925"/>
            <a:ext cx="4602212" cy="5581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587" y="933450"/>
            <a:ext cx="4583162" cy="5562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6076950"/>
            <a:ext cx="1483072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6972" y="6076950"/>
            <a:ext cx="1483072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7194" y="6076950"/>
            <a:ext cx="1483072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7416" y="6076950"/>
            <a:ext cx="1483221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18312" y="6219825"/>
            <a:ext cx="14287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48875" y="366712"/>
            <a:ext cx="16764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725" y="357187"/>
            <a:ext cx="342900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3925" y="352425"/>
            <a:ext cx="564086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Montserrat"/>
              </a:rPr>
              <a:t>Module 3 &amp; 4: Fire Detection &amp; Severity Estimation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" y="1085850"/>
            <a:ext cx="5903862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Montserrat"/>
              </a:rPr>
              <a:t>Fire Localization &amp; Severity Pipeline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6750" y="1104900"/>
            <a:ext cx="123825" cy="1428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1525" y="3226474"/>
            <a:ext cx="66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227189"/>
            <a:ext cx="5932437" cy="182038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400" b="1" i="0" u="none">
                <a:solidFill>
                  <a:srgbClr val="94A3B8"/>
                </a:solidFill>
                <a:latin typeface="Inter"/>
              </a:rPr>
              <a:t>Datasets Used:</a:t>
            </a:r>
            <a:r>
              <a:rPr sz="1400" b="0" i="0" u="none">
                <a:solidFill>
                  <a:srgbClr val="94A3B8"/>
                </a:solidFill>
                <a:latin typeface="Inter"/>
              </a:rPr>
              <a:t> DFire &amp; FLAME (Wildfire aerial RGB benchmarks).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3482161"/>
            <a:ext cx="66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3482875"/>
            <a:ext cx="5932437" cy="182038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400" b="1" i="0" u="none">
                <a:solidFill>
                  <a:srgbClr val="94A3B8"/>
                </a:solidFill>
                <a:latin typeface="Inter"/>
              </a:rPr>
              <a:t>Model Architecture:</a:t>
            </a:r>
            <a:r>
              <a:rPr sz="1400" b="0" i="0" u="none">
                <a:solidFill>
                  <a:srgbClr val="94A3B8"/>
                </a:solidFill>
                <a:latin typeface="Inter"/>
              </a:rPr>
              <a:t> YOLO11n fine-tuned on $640 \times 640$ resolution.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525" y="3737848"/>
            <a:ext cx="66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3738562"/>
            <a:ext cx="5932437" cy="359073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400" b="1" i="0" u="none" dirty="0">
                <a:solidFill>
                  <a:srgbClr val="94A3B8"/>
                </a:solidFill>
                <a:latin typeface="Inter"/>
              </a:rPr>
              <a:t>Severity Logic:</a:t>
            </a:r>
            <a:r>
              <a:rPr sz="1400" b="0" i="0" u="none" dirty="0">
                <a:solidFill>
                  <a:srgbClr val="94A3B8"/>
                </a:solidFill>
                <a:latin typeface="Inter"/>
              </a:rPr>
              <a:t> Calculates fire region pixel area expansion rate and visual smoke density over sliding temporal window.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42112" y="942975"/>
            <a:ext cx="4564112" cy="5543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923925"/>
            <a:ext cx="6503937" cy="5581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062" y="923925"/>
            <a:ext cx="4602212" cy="5581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6038850"/>
            <a:ext cx="6103887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587" y="933450"/>
            <a:ext cx="4583162" cy="5562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8312" y="6219825"/>
            <a:ext cx="1762125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8875" y="366712"/>
            <a:ext cx="16764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725" y="357187"/>
            <a:ext cx="342900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23925" y="352425"/>
            <a:ext cx="543880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Montserrat"/>
              </a:rPr>
              <a:t>Module 5: Aerial Human Detection Under Smoke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" y="1085850"/>
            <a:ext cx="5941962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Montserrat"/>
              </a:rPr>
              <a:t>Top-Down Aerial Victim Localization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750" y="1104900"/>
            <a:ext cx="85725" cy="142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525" y="3117681"/>
            <a:ext cx="66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118395"/>
            <a:ext cx="5932437" cy="182038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400" b="1" i="0" u="none">
                <a:solidFill>
                  <a:srgbClr val="94A3B8"/>
                </a:solidFill>
                <a:latin typeface="Inter"/>
              </a:rPr>
              <a:t>Datasets:</a:t>
            </a:r>
            <a:r>
              <a:rPr sz="1400" b="0" i="0" u="none">
                <a:solidFill>
                  <a:srgbClr val="94A3B8"/>
                </a:solidFill>
                <a:latin typeface="Inter"/>
              </a:rPr>
              <a:t> VisDrone &amp; COCO Person fine-tuned for aerial views.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525" y="3373368"/>
            <a:ext cx="66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374082"/>
            <a:ext cx="5932437" cy="358973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400" b="1" i="0" u="none">
                <a:solidFill>
                  <a:srgbClr val="94A3B8"/>
                </a:solidFill>
                <a:latin typeface="Inter"/>
              </a:rPr>
              <a:t>Challenge Addressed:</a:t>
            </a:r>
            <a:r>
              <a:rPr sz="1400" b="0" i="0" u="none">
                <a:solidFill>
                  <a:srgbClr val="94A3B8"/>
                </a:solidFill>
                <a:latin typeface="Inter"/>
              </a:rPr>
              <a:t> Standard pedestrian detectors fail on small-scale top-down perspectives from 15–30m UAV flight altitudes.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3808541"/>
            <a:ext cx="66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3809255"/>
            <a:ext cx="5932437" cy="358973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400" b="1" i="0" u="none">
                <a:solidFill>
                  <a:srgbClr val="94A3B8"/>
                </a:solidFill>
                <a:latin typeface="Inter"/>
              </a:rPr>
              <a:t>Smoke Resilience:</a:t>
            </a:r>
            <a:r>
              <a:rPr sz="1400" b="0" i="0" u="none">
                <a:solidFill>
                  <a:srgbClr val="94A3B8"/>
                </a:solidFill>
                <a:latin typeface="Inter"/>
              </a:rPr>
              <a:t> Contrast enhancement and frame preprocessing improve detection under partial smoke obscuration.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575" y="6124575"/>
            <a:ext cx="3905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3B82F6"/>
                </a:solidFill>
                <a:latin typeface="Inter"/>
              </a:rPr>
              <a:t>Output:</a:t>
            </a:r>
          </a:p>
        </p:txBody>
      </p:sp>
      <p:pic>
        <p:nvPicPr>
          <p:cNvPr id="21" name="Picture 20" descr="border monitoring and tactical response">
            <a:extLst>
              <a:ext uri="{FF2B5EF4-FFF2-40B4-BE49-F238E27FC236}">
                <a16:creationId xmlns:a16="http://schemas.microsoft.com/office/drawing/2014/main" id="{D7337A2F-C925-B9EC-655A-975FB22EBE7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45228"/>
          <a:stretch>
            <a:fillRect/>
          </a:stretch>
        </p:blipFill>
        <p:spPr>
          <a:xfrm>
            <a:off x="7358332" y="1139952"/>
            <a:ext cx="4062143" cy="48272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923925"/>
            <a:ext cx="6503937" cy="5581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062" y="923925"/>
            <a:ext cx="4602212" cy="5581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587" y="933450"/>
            <a:ext cx="4583162" cy="5562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8312" y="6219825"/>
            <a:ext cx="1762125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182225" y="414337"/>
            <a:ext cx="14287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F8FAFC"/>
                </a:solidFill>
                <a:latin typeface="JetBrains Mono"/>
              </a:rPr>
              <a:t>MODULE SPECIFICATION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25" y="357187"/>
            <a:ext cx="342900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3925" y="352425"/>
            <a:ext cx="5489748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Montserrat"/>
              </a:rPr>
              <a:t>Module 6 &amp; 7: Pose Estimation &amp; Person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1085850"/>
            <a:ext cx="5865762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Montserrat"/>
              </a:rPr>
              <a:t>Skeleton Keypoint Posture Analysis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" y="1104900"/>
            <a:ext cx="161925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1525" y="5099030"/>
            <a:ext cx="66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5099744"/>
            <a:ext cx="5932437" cy="179536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200" b="1" i="0" u="none" dirty="0">
                <a:solidFill>
                  <a:srgbClr val="94A3B8"/>
                </a:solidFill>
                <a:latin typeface="Inter"/>
              </a:rPr>
              <a:t>Pose Datasets: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 COCO </a:t>
            </a:r>
            <a:r>
              <a:rPr sz="1200" b="0" i="0" u="none" dirty="0" err="1">
                <a:solidFill>
                  <a:srgbClr val="94A3B8"/>
                </a:solidFill>
                <a:latin typeface="Inter"/>
              </a:rPr>
              <a:t>Keypoints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, MPII, and </a:t>
            </a:r>
            <a:r>
              <a:rPr sz="1200" b="0" i="0" u="none" dirty="0" err="1">
                <a:solidFill>
                  <a:srgbClr val="94A3B8"/>
                </a:solidFill>
                <a:latin typeface="Inter"/>
              </a:rPr>
              <a:t>Okutama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-Action.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5354716"/>
            <a:ext cx="66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5355431"/>
            <a:ext cx="5932437" cy="179536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200" b="1" i="0" u="none">
                <a:solidFill>
                  <a:srgbClr val="94A3B8"/>
                </a:solidFill>
                <a:latin typeface="Inter"/>
              </a:rPr>
              <a:t>Model: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YOLO-Pose / RTMPose keypoint estimator (17 body joints).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5610403"/>
            <a:ext cx="66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5611117"/>
            <a:ext cx="5932437" cy="179536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200" b="1" i="0" u="none">
                <a:solidFill>
                  <a:srgbClr val="94A3B8"/>
                </a:solidFill>
                <a:latin typeface="Inter"/>
              </a:rPr>
              <a:t>Posture Classifications: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5907762"/>
            <a:ext cx="66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5908476"/>
            <a:ext cx="5932437" cy="358973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200" b="1" i="0" u="none">
                <a:solidFill>
                  <a:srgbClr val="94A3B8"/>
                </a:solidFill>
                <a:latin typeface="Inter"/>
              </a:rPr>
              <a:t>Tracking Framework: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ByteTrack maintains unique IDs across frames to measure movement velocity vectors and eliminate duplicate counts.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2112" y="942975"/>
            <a:ext cx="4564112" cy="5543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89150" y="5616248"/>
            <a:ext cx="628650" cy="221158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55900" y="5616248"/>
            <a:ext cx="571500" cy="221158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65500" y="5616248"/>
            <a:ext cx="571500" cy="221158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75100" y="5616248"/>
            <a:ext cx="571500" cy="221158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84700" y="5616248"/>
            <a:ext cx="1085850" cy="22115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5C154B4-7281-97D5-5768-3BBFAC9FFD1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0779" y="1825180"/>
            <a:ext cx="6128435" cy="26125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923925"/>
            <a:ext cx="11258550" cy="5581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7437" y="366712"/>
            <a:ext cx="1747837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357187"/>
            <a:ext cx="34290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3925" y="352425"/>
            <a:ext cx="815414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Montserrat"/>
              </a:rPr>
              <a:t>⭐ Primary Novelty — Context-Aware Victim Prioritization Engine (CVPE)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1085850"/>
            <a:ext cx="108585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 dirty="0">
                <a:solidFill>
                  <a:srgbClr val="F1F5F9"/>
                </a:solidFill>
                <a:latin typeface="Inter"/>
              </a:rPr>
              <a:t>CVPE Fusion Engine:</a:t>
            </a:r>
            <a:r>
              <a:rPr sz="975" b="0" i="0" u="none" dirty="0">
                <a:solidFill>
                  <a:srgbClr val="F1F5F9"/>
                </a:solidFill>
                <a:latin typeface="Inter"/>
              </a:rPr>
              <a:t> Fuses Fire Severity, Victim Body Pose, Movement Velocity, and Proximity to Fire to generate real-time rescue prioritization rankings.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978806"/>
              </p:ext>
            </p:extLst>
          </p:nvPr>
        </p:nvGraphicFramePr>
        <p:xfrm>
          <a:off x="666750" y="4543425"/>
          <a:ext cx="10858498" cy="1800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3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0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5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5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40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199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45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F1F5F9"/>
                          </a:solidFill>
                          <a:latin typeface="Montserrat SemiBold"/>
                        </a:rPr>
                        <a:t>Victim 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F1F5F9"/>
                          </a:solidFill>
                          <a:latin typeface="Montserrat SemiBold"/>
                        </a:rPr>
                        <a:t>Body 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F1F5F9"/>
                          </a:solidFill>
                          <a:latin typeface="Montserrat SemiBold"/>
                        </a:rPr>
                        <a:t>Tracked Movement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F1F5F9"/>
                          </a:solidFill>
                          <a:latin typeface="Montserrat SemiBold"/>
                        </a:rPr>
                        <a:t>Proximity to Fire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F1F5F9"/>
                          </a:solidFill>
                          <a:latin typeface="Montserrat SemiBold"/>
                        </a:rPr>
                        <a:t>Assessed Priority 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F1F5F9"/>
                          </a:solidFill>
                          <a:latin typeface="Montserrat SemiBold"/>
                        </a:rPr>
                        <a:t>Actionable Rescue Recommendation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94A3B8"/>
                          </a:solidFill>
                          <a:latin typeface="Inter"/>
                        </a:rPr>
                        <a:t>Victim 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94A3B8"/>
                          </a:solidFill>
                          <a:latin typeface="Inter"/>
                        </a:rPr>
                        <a:t>Running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94A3B8"/>
                          </a:solidFill>
                          <a:latin typeface="Inter"/>
                        </a:rPr>
                        <a:t>High Velocity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94A3B8"/>
                          </a:solidFill>
                          <a:latin typeface="Inter"/>
                        </a:rPr>
                        <a:t>Far Distance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900" b="0" i="0" u="none" dirty="0">
                        <a:solidFill>
                          <a:srgbClr val="94A3B8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94A3B8"/>
                          </a:solidFill>
                          <a:latin typeface="Inter"/>
                        </a:rPr>
                        <a:t>Self-evacuating; monitor trajectory remotely.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94A3B8"/>
                          </a:solidFill>
                          <a:latin typeface="Inter"/>
                        </a:rPr>
                        <a:t>Victim 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94A3B8"/>
                          </a:solidFill>
                          <a:latin typeface="Inter"/>
                        </a:rPr>
                        <a:t>Standing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94A3B8"/>
                          </a:solidFill>
                          <a:latin typeface="Inter"/>
                        </a:rPr>
                        <a:t>Low Velocity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94A3B8"/>
                          </a:solidFill>
                          <a:latin typeface="Inter"/>
                        </a:rPr>
                        <a:t>Near Hazard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900" b="0" i="0" u="none" dirty="0">
                        <a:solidFill>
                          <a:srgbClr val="94A3B8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94A3B8"/>
                          </a:solidFill>
                          <a:latin typeface="Inter"/>
                        </a:rPr>
                        <a:t>Guiding assistance needed; exit path clear.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94A3B8"/>
                          </a:solidFill>
                          <a:latin typeface="Inter"/>
                        </a:rPr>
                        <a:t>Victim 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94A3B8"/>
                          </a:solidFill>
                          <a:latin typeface="Inter"/>
                        </a:rPr>
                        <a:t>Sitting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94A3B8"/>
                          </a:solidFill>
                          <a:latin typeface="Inter"/>
                        </a:rPr>
                        <a:t>Low / Trapped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94A3B8"/>
                          </a:solidFill>
                          <a:latin typeface="Inter"/>
                        </a:rPr>
                        <a:t>Near Hazard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900" b="0" i="0" u="none" dirty="0">
                        <a:solidFill>
                          <a:srgbClr val="94A3B8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94A3B8"/>
                          </a:solidFill>
                          <a:latin typeface="Inter"/>
                        </a:rPr>
                        <a:t>Immediate responder team deployment required.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94A3B8"/>
                          </a:solidFill>
                          <a:latin typeface="Inter"/>
                        </a:rPr>
                        <a:t>Victim 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94A3B8"/>
                          </a:solidFill>
                          <a:latin typeface="Inter"/>
                        </a:rPr>
                        <a:t>Lying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94A3B8"/>
                          </a:solidFill>
                          <a:latin typeface="Inter"/>
                        </a:rPr>
                        <a:t>None (Immobile)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94A3B8"/>
                          </a:solidFill>
                          <a:latin typeface="Inter"/>
                        </a:rPr>
                        <a:t>Near Hazard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900" b="0" i="0" u="none" dirty="0">
                        <a:solidFill>
                          <a:srgbClr val="94A3B8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 dirty="0">
                          <a:solidFill>
                            <a:srgbClr val="94A3B8"/>
                          </a:solidFill>
                          <a:latin typeface="Inter"/>
                        </a:rPr>
                        <a:t>Top Priority: Medical extraction team dispatch!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66750" y="4829175"/>
            <a:ext cx="973931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40681" y="4829175"/>
            <a:ext cx="1070074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10755" y="4829175"/>
            <a:ext cx="169545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6205" y="4829175"/>
            <a:ext cx="151507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21275" y="4829175"/>
            <a:ext cx="1984027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05303" y="4829175"/>
            <a:ext cx="3619946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6750" y="5214937"/>
            <a:ext cx="973931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640681" y="5214937"/>
            <a:ext cx="1070074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10755" y="5214937"/>
            <a:ext cx="1695450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06205" y="5214937"/>
            <a:ext cx="1515070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21275" y="5214937"/>
            <a:ext cx="1984027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05303" y="5214937"/>
            <a:ext cx="3619946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6750" y="5586412"/>
            <a:ext cx="973931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640681" y="5586412"/>
            <a:ext cx="1070074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10755" y="5586412"/>
            <a:ext cx="1695450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06205" y="5586412"/>
            <a:ext cx="1515070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21275" y="5586412"/>
            <a:ext cx="1984027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05303" y="5586412"/>
            <a:ext cx="3619946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66750" y="5957887"/>
            <a:ext cx="973931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640681" y="5957887"/>
            <a:ext cx="1070074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710755" y="5957887"/>
            <a:ext cx="1695450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406205" y="5957887"/>
            <a:ext cx="1515070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21275" y="5957887"/>
            <a:ext cx="1984027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05303" y="5957887"/>
            <a:ext cx="3619946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66750" y="6329362"/>
            <a:ext cx="973931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640681" y="6329362"/>
            <a:ext cx="1070074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710755" y="6329362"/>
            <a:ext cx="1695450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406205" y="6329362"/>
            <a:ext cx="1515070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921275" y="6329362"/>
            <a:ext cx="1984027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905303" y="6329362"/>
            <a:ext cx="3619946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575" y="4938713"/>
            <a:ext cx="857250" cy="2095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8425" y="5295899"/>
            <a:ext cx="1028700" cy="2095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8888" y="5669566"/>
            <a:ext cx="914400" cy="2095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8425" y="6026944"/>
            <a:ext cx="114300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923925"/>
            <a:ext cx="11258550" cy="5581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0" y="366712"/>
            <a:ext cx="962025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357187"/>
            <a:ext cx="34290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3925" y="352425"/>
            <a:ext cx="491764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Montserrat"/>
              </a:rPr>
              <a:t>Dataset Matrix &amp; Benchmark Specifications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510012"/>
              </p:ext>
            </p:extLst>
          </p:nvPr>
        </p:nvGraphicFramePr>
        <p:xfrm>
          <a:off x="666750" y="1085850"/>
          <a:ext cx="10858499" cy="1838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5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1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4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6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387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1F5F9"/>
                          </a:solidFill>
                          <a:latin typeface="Montserrat SemiBold"/>
                        </a:rPr>
                        <a:t>Task Module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1F5F9"/>
                          </a:solidFill>
                          <a:latin typeface="Montserrat SemiBold"/>
                        </a:rPr>
                        <a:t>Dataset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1F5F9"/>
                          </a:solidFill>
                          <a:latin typeface="Montserrat SemiBold"/>
                        </a:rPr>
                        <a:t>Primary Characteristics &amp; Application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1F5F9"/>
                          </a:solidFill>
                          <a:latin typeface="Montserrat SemiBold"/>
                        </a:rPr>
                        <a:t>Role in Pipeline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7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4A3B8"/>
                          </a:solidFill>
                          <a:latin typeface="Inter"/>
                        </a:rPr>
                        <a:t>Fire Detection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DFire &amp; FLAME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Wildfire aerial images with flame and smoke bounding annotations.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Train YOLO11n Fire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87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4A3B8"/>
                          </a:solidFill>
                          <a:latin typeface="Inter"/>
                        </a:rPr>
                        <a:t>Human Detection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VisDrone &amp; COCO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Drone aerial top-down view object detection benchmarks.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Train Aerial Person Detector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87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4A3B8"/>
                          </a:solidFill>
                          <a:latin typeface="Inter"/>
                        </a:rPr>
                        <a:t>Pose Estimation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94A3B8"/>
                          </a:solidFill>
                          <a:latin typeface="Inter"/>
                        </a:rPr>
                        <a:t>COCO </a:t>
                      </a:r>
                      <a:r>
                        <a:rPr sz="1200" b="0" i="0" u="none" dirty="0" err="1">
                          <a:solidFill>
                            <a:srgbClr val="94A3B8"/>
                          </a:solidFill>
                          <a:latin typeface="Inter"/>
                        </a:rPr>
                        <a:t>Keypoints</a:t>
                      </a:r>
                      <a:r>
                        <a:rPr sz="1200" b="0" i="0" u="none" dirty="0">
                          <a:solidFill>
                            <a:srgbClr val="94A3B8"/>
                          </a:solidFill>
                          <a:latin typeface="Inter"/>
                        </a:rPr>
                        <a:t> &amp; MPII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Multi-person 17 keypoint body joint posture benchmark.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Train RTMPose / YOLO-Pose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7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4A3B8"/>
                          </a:solidFill>
                          <a:latin typeface="Inter"/>
                        </a:rPr>
                        <a:t>Action / Motion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Okutama-Action (Opt.)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Aerial action benchmark for running, standing, sitting posture.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Fine-tune Motion Vectors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9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4A3B8"/>
                          </a:solidFill>
                          <a:latin typeface="Inter"/>
                        </a:rPr>
                        <a:t>Validation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Custom Drone Video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Real-world field flight test video captured during flight trials.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94A3B8"/>
                          </a:solidFill>
                          <a:latin typeface="Inter"/>
                        </a:rPr>
                        <a:t>Final Real-World Validation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66750" y="1371600"/>
            <a:ext cx="1535162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01912" y="1371600"/>
            <a:ext cx="1971972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73884" y="1371600"/>
            <a:ext cx="5004792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78676" y="1371600"/>
            <a:ext cx="2346573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6750" y="1690687"/>
            <a:ext cx="1535162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01912" y="1690687"/>
            <a:ext cx="1971972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73884" y="1690687"/>
            <a:ext cx="5004792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78676" y="1690687"/>
            <a:ext cx="2346573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6750" y="1995487"/>
            <a:ext cx="1535162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201912" y="1995487"/>
            <a:ext cx="1971972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73884" y="1995487"/>
            <a:ext cx="5004792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78676" y="1995487"/>
            <a:ext cx="2346573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6750" y="2300287"/>
            <a:ext cx="1535162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201912" y="2300287"/>
            <a:ext cx="1971972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73884" y="2300287"/>
            <a:ext cx="5004792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78676" y="2300287"/>
            <a:ext cx="2346573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66750" y="2605087"/>
            <a:ext cx="1535162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201912" y="2605087"/>
            <a:ext cx="1971972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73884" y="2605087"/>
            <a:ext cx="5004792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78676" y="2605087"/>
            <a:ext cx="2346573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66750" y="2909887"/>
            <a:ext cx="1535162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201912" y="2909887"/>
            <a:ext cx="1971972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173884" y="2909887"/>
            <a:ext cx="5004792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78676" y="2909887"/>
            <a:ext cx="2346573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923925"/>
            <a:ext cx="6503937" cy="5581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062" y="923925"/>
            <a:ext cx="4602212" cy="5581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587" y="933450"/>
            <a:ext cx="4583162" cy="5562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8312" y="6219825"/>
            <a:ext cx="20574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1812" y="366712"/>
            <a:ext cx="1033462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3925" y="352425"/>
            <a:ext cx="439570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Montserrat"/>
              </a:rPr>
              <a:t>Expected Field Demonstration Mockup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1085850"/>
            <a:ext cx="5865762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Montserrat"/>
              </a:rPr>
              <a:t>Incident Command Control Interface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" y="1104900"/>
            <a:ext cx="161925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1525" y="5575875"/>
            <a:ext cx="66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5576589"/>
            <a:ext cx="5932437" cy="179486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1" i="0" u="none">
                <a:solidFill>
                  <a:srgbClr val="94A3B8"/>
                </a:solidFill>
                <a:latin typeface="Inter"/>
              </a:rPr>
              <a:t>Live Telemetry Feed: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 Overlaid bounding boxes with pose skeletons and priority tags.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5831562"/>
            <a:ext cx="66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5832276"/>
            <a:ext cx="5932437" cy="179486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1" i="0" u="none" dirty="0">
                <a:solidFill>
                  <a:srgbClr val="94A3B8"/>
                </a:solidFill>
                <a:latin typeface="Inter"/>
              </a:rPr>
              <a:t>GPS Coordinate Stream: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Auto-generating geo-referenced victim locations for NDRF dispatch.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6087248"/>
            <a:ext cx="66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6087963"/>
            <a:ext cx="5932437" cy="179486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1" i="0" u="none">
                <a:solidFill>
                  <a:srgbClr val="94A3B8"/>
                </a:solidFill>
                <a:latin typeface="Inter"/>
              </a:rPr>
              <a:t>Mission Report Export: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 Generates instant incident summary PDF/JSON logs.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2112" y="942975"/>
            <a:ext cx="4564112" cy="5543550"/>
          </a:xfrm>
          <a:prstGeom prst="rect">
            <a:avLst/>
          </a:prstGeom>
        </p:spPr>
      </p:pic>
      <p:pic>
        <p:nvPicPr>
          <p:cNvPr id="20" name="Picture 19" descr="image.png">
            <a:extLst>
              <a:ext uri="{FF2B5EF4-FFF2-40B4-BE49-F238E27FC236}">
                <a16:creationId xmlns:a16="http://schemas.microsoft.com/office/drawing/2014/main" id="{D7C2AFDE-A5F7-475C-C241-1DD94E7E9E2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9397" y="390715"/>
            <a:ext cx="3429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923925"/>
            <a:ext cx="2700337" cy="5581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462" y="923925"/>
            <a:ext cx="2700337" cy="5581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923925"/>
            <a:ext cx="2700337" cy="5581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4937" y="923925"/>
            <a:ext cx="2700337" cy="5581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1750" y="366712"/>
            <a:ext cx="1533525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3925" y="352425"/>
            <a:ext cx="2895518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Montserrat"/>
              </a:rPr>
              <a:t>Target Evaluation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1104900"/>
            <a:ext cx="2300287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3B82F6"/>
                </a:solidFill>
                <a:latin typeface="JetBrains Mono ExtraBold"/>
              </a:rPr>
              <a:t>&gt; 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242" y="3695700"/>
            <a:ext cx="241530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Inter"/>
              </a:rPr>
              <a:t>mAP @ 0.5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" y="6029325"/>
            <a:ext cx="230028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Detection accuracy across fire and aerial victims.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9487" y="1104900"/>
            <a:ext cx="2300287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10B981"/>
                </a:solidFill>
                <a:latin typeface="JetBrains Mono ExtraBold"/>
              </a:rPr>
              <a:t>15–25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1980" y="3695700"/>
            <a:ext cx="241530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Inter"/>
              </a:rPr>
              <a:t>Edge FPS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9487" y="6029325"/>
            <a:ext cx="230028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Real-time throughput on Raspberry Pi 4 edge platform.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1104900"/>
            <a:ext cx="2300287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EAB308"/>
                </a:solidFill>
                <a:latin typeface="JetBrains Mono ExtraBold"/>
              </a:rPr>
              <a:t>&lt; 60ms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4717" y="3695700"/>
            <a:ext cx="241530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Inter"/>
              </a:rPr>
              <a:t>Inference Latency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2225" y="6029325"/>
            <a:ext cx="230028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Total pipeline processing latency per video frame.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4962" y="1104900"/>
            <a:ext cx="2300287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F97316"/>
                </a:solidFill>
                <a:latin typeface="JetBrains Mono ExtraBold"/>
              </a:rPr>
              <a:t>&gt; 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7455" y="3774281"/>
            <a:ext cx="241530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Inter"/>
              </a:rPr>
              <a:t>Priority 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4962" y="6186487"/>
            <a:ext cx="2300287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Rescue Priority Score classification accuracy.</a:t>
            </a:r>
          </a:p>
        </p:txBody>
      </p:sp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736E09D8-2B48-AC85-4E99-4AD52251D7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541" y="381571"/>
            <a:ext cx="3429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923925"/>
            <a:ext cx="3651200" cy="2714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325" y="923925"/>
            <a:ext cx="3651200" cy="2714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3925" y="923925"/>
            <a:ext cx="3651349" cy="27146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" y="3790950"/>
            <a:ext cx="3651200" cy="27146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325" y="3790950"/>
            <a:ext cx="3651200" cy="27146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3925" y="3790950"/>
            <a:ext cx="3651349" cy="27146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3187" y="366712"/>
            <a:ext cx="1462087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3925" y="352425"/>
            <a:ext cx="273737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Montserrat"/>
              </a:rPr>
              <a:t>System Key Advantages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1085850"/>
            <a:ext cx="3032075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Montserrat"/>
              </a:rPr>
              <a:t>Low Cost &amp; Portable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3105150"/>
            <a:ext cx="32511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Built using affordable COTS quadcopter airframes and edge compute SBCs.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9425" y="1085850"/>
            <a:ext cx="3032075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Montserrat"/>
              </a:rPr>
              <a:t>Onboard Edge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0350" y="3105150"/>
            <a:ext cx="32511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Processes telemetry locally on the UAV without reliance on cloud connection.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0150" y="1085850"/>
            <a:ext cx="3175099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Montserrat"/>
              </a:rPr>
              <a:t>Real-Time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3950" y="3105150"/>
            <a:ext cx="3251299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Low latency inference ensures rapid emergency triage for first responders.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3952875"/>
            <a:ext cx="3032075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Montserrat"/>
              </a:rPr>
              <a:t>Scalable &amp; Modular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5972175"/>
            <a:ext cx="32511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Allows easy updating or replacement of AI detection models independently.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9425" y="3952875"/>
            <a:ext cx="3032075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Montserrat"/>
              </a:rPr>
              <a:t>Intelligent Decision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0350" y="5972175"/>
            <a:ext cx="32511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Replaces raw video analysis with actionable priority scores for commanders.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025" y="3952875"/>
            <a:ext cx="3032224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Montserrat"/>
              </a:rPr>
              <a:t>Fallback Resilient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3950" y="5972175"/>
            <a:ext cx="3251299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Supports ESP32 contingency streaming option during hardware shortages.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" y="1104900"/>
            <a:ext cx="142875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350" y="1104900"/>
            <a:ext cx="142875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750" y="3971925"/>
            <a:ext cx="142875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70350" y="3971925"/>
            <a:ext cx="142875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73950" y="3971925"/>
            <a:ext cx="142875" cy="142875"/>
          </a:xfrm>
          <a:prstGeom prst="rect">
            <a:avLst/>
          </a:prstGeom>
        </p:spPr>
      </p:pic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F0B95DA9-8060-05BE-DBA2-99E74FF25CA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5389" y="372427"/>
            <a:ext cx="3429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475" y="1847850"/>
            <a:ext cx="154305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943350"/>
            <a:ext cx="7620000" cy="1066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9750" y="2762250"/>
            <a:ext cx="2755850" cy="876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8000" y="2762250"/>
            <a:ext cx="2755850" cy="876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6250" y="2762250"/>
            <a:ext cx="2755850" cy="876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95437" y="2247900"/>
            <a:ext cx="900112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FFFFFF"/>
                </a:solidFill>
                <a:latin typeface="Montserrat ExtraBold"/>
              </a:rPr>
              <a:t>Edge AI-Based UAV for Intelligent Fire Emergency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5551" y="4143375"/>
            <a:ext cx="7180897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0" i="0" u="none">
                <a:solidFill>
                  <a:srgbClr val="FFFFFF"/>
                </a:solidFill>
                <a:latin typeface="Montserrat ExtraBold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6525" y="4619625"/>
            <a:ext cx="68389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97316"/>
                </a:solidFill>
                <a:latin typeface="Inter SemiBold"/>
              </a:rPr>
              <a:t>Questions &amp;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4238" y="2924175"/>
            <a:ext cx="4667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F97316"/>
                </a:solidFill>
                <a:latin typeface="Inter"/>
              </a:rPr>
              <a:t>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3575" y="3114675"/>
            <a:ext cx="25082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F8FAFC"/>
                </a:solidFill>
                <a:latin typeface="Inter"/>
              </a:rPr>
              <a:t>Existing disaster UAVs lack victim condition awareness and rescue triaging capabilities.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6776" y="2924175"/>
            <a:ext cx="438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3B82F6"/>
                </a:solidFill>
                <a:latin typeface="Inter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1825" y="3114675"/>
            <a:ext cx="2508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F8FAFC"/>
                </a:solidFill>
                <a:latin typeface="Inter"/>
              </a:rPr>
              <a:t>Lightweight multi-modal Edge AI pipeline running fire, pose, and tracking on Raspberry Pi 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13601" y="2924175"/>
            <a:ext cx="3810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0B981"/>
                </a:solidFill>
                <a:latin typeface="Inter"/>
              </a:rP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0075" y="3114675"/>
            <a:ext cx="25082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F8FAFC"/>
                </a:solidFill>
                <a:latin typeface="Inter"/>
              </a:rPr>
              <a:t>CVPE Engine provides actionable priority scores to save lives during critical emergency windows.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6725" y="352425"/>
            <a:ext cx="117252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Montserrat"/>
              </a:rPr>
              <a:t>Image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725" y="609600"/>
            <a:ext cx="1125855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66725" y="1447800"/>
            <a:ext cx="11258550" cy="990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66725" y="2438400"/>
            <a:ext cx="1125855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66725" y="3276600"/>
            <a:ext cx="112585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66725" y="4048125"/>
            <a:ext cx="112585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66725" y="1438275"/>
            <a:ext cx="11258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6725" y="1438275"/>
            <a:ext cx="11258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6725" y="2428875"/>
            <a:ext cx="11258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6725" y="2428875"/>
            <a:ext cx="11258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6725" y="3267075"/>
            <a:ext cx="11258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6725" y="3267075"/>
            <a:ext cx="11258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6725" y="4038600"/>
            <a:ext cx="11258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6725" y="4038600"/>
            <a:ext cx="11258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6725" y="4810125"/>
            <a:ext cx="11258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6725" y="4810125"/>
            <a:ext cx="11258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785812"/>
            <a:ext cx="1038225" cy="571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562100" y="752475"/>
            <a:ext cx="101631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Inter"/>
              </a:rPr>
              <a:t>https://www.asce.org/-/media/asce-images-and-files/publications-and-news/source/images/2025/07-july/automated-aerial-firefighting-drones-to-provide-faster-responses/fire-drones-firesw2-resized.png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2100" y="1104900"/>
            <a:ext cx="101631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www.asce.org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1700212"/>
            <a:ext cx="857250" cy="4762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562100" y="1590675"/>
            <a:ext cx="101631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Inter"/>
              </a:rPr>
              <a:t>https://mapi.associatedpress.com/v2/items/5c6a02fc033942d7b6a8ef8ac99adfb7.0/thumbnail/GRE%20WILDFIRES%2020260802cr_1920x1080.jpg?nfe=true&amp;app=MPK&amp;wm=false&amp;tag=iid~5c6a02fc033942d7b6a8ef8ac99adfb7!rsn~0!cid~f0ec334a3763499184955eb54ddea489!orgId~46611!qt~fkfJv7DQareI!orgNm~Daily%20Independent%20News%20-%20Sun%20(API%20Production%20Key)!role~Thumbnail!mt~video!fmt~JPEG%20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62100" y="2095500"/>
            <a:ext cx="101631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www.yourvalley.net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2614612"/>
            <a:ext cx="857250" cy="4762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562100" y="2581275"/>
            <a:ext cx="101631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Inter"/>
              </a:rPr>
              <a:t>https://preview.redd.it/help-mounting-battery-and-raspberry-pi-on-3-5-quad-v0-2m5k51zi7syg1.jpg?width=2160&amp;format=pjpg&amp;auto=webp&amp;s=6cca35c539be3366b2a044310a5eab79301025e0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62100" y="2933700"/>
            <a:ext cx="101631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www.reddit.com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" y="3419475"/>
            <a:ext cx="857250" cy="4762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562100" y="3462337"/>
            <a:ext cx="10163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Inter"/>
              </a:rPr>
              <a:t>https://www.mdpi.com/sensors/sensors-23-07086/article_deploy/html/images/sensors-23-07086-g008-550.jpg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62100" y="3662362"/>
            <a:ext cx="101631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www.mdpi.com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25" y="4191000"/>
            <a:ext cx="857250" cy="4762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62100" y="4233862"/>
            <a:ext cx="10163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Inter"/>
              </a:rPr>
              <a:t>https://miro.medium.com/v2/resize:fit:1400/1*1Jfggy7jPBNP9-vKJYr2ow.gif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62100" y="4433887"/>
            <a:ext cx="101631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medium.com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725" y="4962525"/>
            <a:ext cx="857250" cy="7239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562100" y="5005387"/>
            <a:ext cx="10163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Inter"/>
              </a:rPr>
              <a:t>https://user-images.githubusercontent.com/48796009/228968225-7509e39c-9d41-42f5-aed9-3387ad9eaa17.png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62100" y="5205412"/>
            <a:ext cx="101631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github.com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6725" y="352425"/>
            <a:ext cx="117252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Montserrat"/>
              </a:rPr>
              <a:t>Image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725" y="609600"/>
            <a:ext cx="112585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66725" y="1371600"/>
            <a:ext cx="11258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66725" y="1371600"/>
            <a:ext cx="11258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752475"/>
            <a:ext cx="85725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62100" y="795337"/>
            <a:ext cx="10163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Inter"/>
              </a:rPr>
              <a:t>https://www.esri.com/arcgis-blog/app/uploads/2025/03/Dashboard.png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62100" y="995362"/>
            <a:ext cx="101631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www.esri.com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1524000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62100" y="1566862"/>
            <a:ext cx="10163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Inter"/>
              </a:rPr>
              <a:t>https://www.fireapparatusmagazine.com/wp-content/uploads/2020/08/2007FApetrillowftic-p04.jpg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100" y="1766887"/>
            <a:ext cx="101631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www.fireapparatusmagazine.com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1637</Words>
  <Application>Microsoft Office PowerPoint</Application>
  <PresentationFormat>Widescreen</PresentationFormat>
  <Paragraphs>268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Calibri</vt:lpstr>
      <vt:lpstr>Inter</vt:lpstr>
      <vt:lpstr>Inter SemiBold</vt:lpstr>
      <vt:lpstr>JetBrains Mono</vt:lpstr>
      <vt:lpstr>JetBrains Mono ExtraBold</vt:lpstr>
      <vt:lpstr>Montserrat</vt:lpstr>
      <vt:lpstr>Montserrat ExtraBold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Basil Joseph</cp:lastModifiedBy>
  <cp:revision>3</cp:revision>
  <dcterms:created xsi:type="dcterms:W3CDTF">2013-01-27T09:14:16Z</dcterms:created>
  <dcterms:modified xsi:type="dcterms:W3CDTF">2026-08-06T10:27:05Z</dcterms:modified>
  <cp:category/>
</cp:coreProperties>
</file>